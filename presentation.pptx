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Poppins" charset="1" panose="00000500000000000000"/>
      <p:regular r:id="rId17"/>
    </p:embeddedFont>
    <p:embeddedFont>
      <p:font typeface="Helvetica World" charset="1" panose="020B0500040000020004"/>
      <p:regular r:id="rId18"/>
    </p:embeddedFont>
    <p:embeddedFont>
      <p:font typeface="Helvetica World Bold" charset="1" panose="020B0800040000020004"/>
      <p:regular r:id="rId19"/>
    </p:embeddedFont>
    <p:embeddedFont>
      <p:font typeface="Archivo Black" charset="1" panose="020B0A03020202020B04"/>
      <p:regular r:id="rId20"/>
    </p:embeddedFont>
    <p:embeddedFont>
      <p:font typeface="Graduate" charset="1" panose="0200050300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4719"/>
            <a:ext cx="17048367" cy="388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18"/>
              </a:lnSpc>
            </a:pPr>
            <a:r>
              <a:rPr lang="en-US" sz="30019">
                <a:solidFill>
                  <a:srgbClr val="FAFAFA"/>
                </a:solidFill>
                <a:latin typeface="Anton"/>
                <a:ea typeface="Anton"/>
                <a:cs typeface="Anton"/>
                <a:sym typeface="Anton"/>
              </a:rPr>
              <a:t>SAMADHAN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394732" y="2653522"/>
            <a:ext cx="13844972" cy="7391670"/>
          </a:xfrm>
          <a:custGeom>
            <a:avLst/>
            <a:gdLst/>
            <a:ahLst/>
            <a:cxnLst/>
            <a:rect r="r" b="b" t="t" l="l"/>
            <a:pathLst>
              <a:path h="7391670" w="13844972">
                <a:moveTo>
                  <a:pt x="0" y="0"/>
                </a:moveTo>
                <a:lnTo>
                  <a:pt x="13844972" y="0"/>
                </a:lnTo>
                <a:lnTo>
                  <a:pt x="13844972" y="7391670"/>
                </a:lnTo>
                <a:lnTo>
                  <a:pt x="0" y="7391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001796"/>
            <a:ext cx="7116498" cy="59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3"/>
              </a:lnSpc>
            </a:pPr>
            <a:r>
              <a:rPr lang="en-US" sz="3330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Team ID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10079" y="6069742"/>
            <a:ext cx="3099930" cy="51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7"/>
              </a:lnSpc>
              <a:spcBef>
                <a:spcPct val="0"/>
              </a:spcBef>
            </a:pPr>
            <a:r>
              <a:rPr lang="en-US" sz="2919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RICR-HIM-1050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651888"/>
            <a:ext cx="3283835" cy="152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8"/>
              </a:lnSpc>
            </a:pPr>
            <a:r>
              <a:rPr lang="en-US" sz="2856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Harsh Shrivastava</a:t>
            </a:r>
          </a:p>
          <a:p>
            <a:pPr algn="just">
              <a:lnSpc>
                <a:spcPts val="3998"/>
              </a:lnSpc>
            </a:pPr>
            <a:r>
              <a:rPr lang="en-US" sz="2856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Divyanshu Kubde</a:t>
            </a:r>
          </a:p>
          <a:p>
            <a:pPr algn="l">
              <a:lnSpc>
                <a:spcPts val="3998"/>
              </a:lnSpc>
              <a:spcBef>
                <a:spcPct val="0"/>
              </a:spcBef>
            </a:pPr>
            <a:r>
              <a:rPr lang="en-US" sz="2856">
                <a:solidFill>
                  <a:srgbClr val="FAFAFA"/>
                </a:solidFill>
                <a:latin typeface="Poppins"/>
                <a:ea typeface="Poppins"/>
                <a:cs typeface="Poppins"/>
                <a:sym typeface="Poppins"/>
              </a:rPr>
              <a:t>Muiz Khan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0502" y="112078"/>
            <a:ext cx="450041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68157" y="1498169"/>
            <a:ext cx="11425104" cy="147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2"/>
              </a:lnSpc>
              <a:spcBef>
                <a:spcPct val="0"/>
              </a:spcBef>
            </a:pPr>
            <a:r>
              <a:rPr lang="en-US" sz="2801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REPORTING A PROBLEM IS EASY. GETTING IT RESOLVED IS NOT. MAIN CONTENT CITIES RECEIVE THOUSANDS OF COMPLAINTS ABOUT: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61258" y="3348037"/>
            <a:ext cx="14893727" cy="1066800"/>
            <a:chOff x="0" y="0"/>
            <a:chExt cx="19858303" cy="14224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6524228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 • POTHOLES AND DAMAGED ROADS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7549040" y="-66675"/>
              <a:ext cx="5316538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GARBAGE AND SANITATION 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3350743" y="-66675"/>
              <a:ext cx="594419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</a:t>
              </a: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WATER LEAKAGE AND DRAINAGE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5147" y="746125"/>
              <a:ext cx="4400947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BROKEN STREETLIGHTS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350743" y="746125"/>
              <a:ext cx="6507559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• PUBLIC INFRASTRUCTURE DAMAGE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830027" y="746125"/>
              <a:ext cx="4754562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 • OTHER CIVIC PROBLEMS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74734" y="4531168"/>
            <a:ext cx="1310140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BUT TRADITIONAL COMPLAINT SYSTEMS OFTEN STOP AT COMPLAINT REGISTRATION.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7216" y="5759528"/>
            <a:ext cx="3257625" cy="324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THE</a:t>
            </a:r>
          </a:p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REAL </a:t>
            </a:r>
          </a:p>
          <a:p>
            <a:pPr algn="ctr">
              <a:lnSpc>
                <a:spcPts val="8623"/>
              </a:lnSpc>
              <a:spcBef>
                <a:spcPct val="0"/>
              </a:spcBef>
            </a:pPr>
            <a:r>
              <a:rPr lang="en-US" sz="615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PROBLEMS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847217" y="5873828"/>
            <a:ext cx="2697765" cy="1410931"/>
          </a:xfrm>
          <a:custGeom>
            <a:avLst/>
            <a:gdLst/>
            <a:ahLst/>
            <a:cxnLst/>
            <a:rect r="r" b="b" t="t" l="l"/>
            <a:pathLst>
              <a:path h="1410931" w="2697765">
                <a:moveTo>
                  <a:pt x="0" y="0"/>
                </a:moveTo>
                <a:lnTo>
                  <a:pt x="2697765" y="0"/>
                </a:lnTo>
                <a:lnTo>
                  <a:pt x="2697765" y="1410931"/>
                </a:lnTo>
                <a:lnTo>
                  <a:pt x="0" y="1410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113916" y="6045236"/>
            <a:ext cx="2132753" cy="875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b="true" sz="23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DUPLICATE</a:t>
            </a:r>
          </a:p>
          <a:p>
            <a:pPr algn="ctr">
              <a:lnSpc>
                <a:spcPts val="3296"/>
              </a:lnSpc>
            </a:pPr>
            <a:r>
              <a:rPr lang="en-US" b="true" sz="235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COMPLAINTS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627669" y="5873478"/>
            <a:ext cx="2697765" cy="1410931"/>
          </a:xfrm>
          <a:custGeom>
            <a:avLst/>
            <a:gdLst/>
            <a:ahLst/>
            <a:cxnLst/>
            <a:rect r="r" b="b" t="t" l="l"/>
            <a:pathLst>
              <a:path h="1410931" w="2697765">
                <a:moveTo>
                  <a:pt x="0" y="0"/>
                </a:moveTo>
                <a:lnTo>
                  <a:pt x="2697765" y="0"/>
                </a:lnTo>
                <a:lnTo>
                  <a:pt x="2697765" y="1410931"/>
                </a:lnTo>
                <a:lnTo>
                  <a:pt x="0" y="1410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767558" y="6043658"/>
            <a:ext cx="2376442" cy="76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6"/>
              </a:lnSpc>
              <a:spcBef>
                <a:spcPct val="0"/>
              </a:spcBef>
            </a:pPr>
            <a:r>
              <a:rPr lang="en-US" b="true" sz="204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CLEAR ACCOUNTABILITY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408122" y="5873128"/>
            <a:ext cx="2697765" cy="1410931"/>
          </a:xfrm>
          <a:custGeom>
            <a:avLst/>
            <a:gdLst/>
            <a:ahLst/>
            <a:cxnLst/>
            <a:rect r="r" b="b" t="t" l="l"/>
            <a:pathLst>
              <a:path h="1410931" w="2697765">
                <a:moveTo>
                  <a:pt x="0" y="0"/>
                </a:moveTo>
                <a:lnTo>
                  <a:pt x="2697764" y="0"/>
                </a:lnTo>
                <a:lnTo>
                  <a:pt x="2697764" y="1410931"/>
                </a:lnTo>
                <a:lnTo>
                  <a:pt x="0" y="1410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95197" y="5995093"/>
            <a:ext cx="1979816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WRONG DEPARTMENT ROUTING 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326351" y="5873128"/>
            <a:ext cx="2697765" cy="1410931"/>
          </a:xfrm>
          <a:custGeom>
            <a:avLst/>
            <a:gdLst/>
            <a:ahLst/>
            <a:cxnLst/>
            <a:rect r="r" b="b" t="t" l="l"/>
            <a:pathLst>
              <a:path h="1410931" w="2697765">
                <a:moveTo>
                  <a:pt x="0" y="0"/>
                </a:moveTo>
                <a:lnTo>
                  <a:pt x="2697765" y="0"/>
                </a:lnTo>
                <a:lnTo>
                  <a:pt x="2697765" y="1410931"/>
                </a:lnTo>
                <a:lnTo>
                  <a:pt x="0" y="1410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105886" y="6206972"/>
            <a:ext cx="2977628" cy="71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INTER-DEPARTMENT DEPENDENCIES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408122" y="7579334"/>
            <a:ext cx="2697765" cy="1410931"/>
          </a:xfrm>
          <a:custGeom>
            <a:avLst/>
            <a:gdLst/>
            <a:ahLst/>
            <a:cxnLst/>
            <a:rect r="r" b="b" t="t" l="l"/>
            <a:pathLst>
              <a:path h="1410931" w="2697765">
                <a:moveTo>
                  <a:pt x="0" y="0"/>
                </a:moveTo>
                <a:lnTo>
                  <a:pt x="2697764" y="0"/>
                </a:lnTo>
                <a:lnTo>
                  <a:pt x="2697764" y="1410931"/>
                </a:lnTo>
                <a:lnTo>
                  <a:pt x="0" y="1410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46223" y="7742711"/>
            <a:ext cx="2254098" cy="83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1"/>
              </a:lnSpc>
              <a:spcBef>
                <a:spcPct val="0"/>
              </a:spcBef>
            </a:pPr>
            <a:r>
              <a:rPr lang="en-US" b="true" sz="220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RESOLVED PROBLEMS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606897" y="7579334"/>
            <a:ext cx="2697765" cy="1410931"/>
          </a:xfrm>
          <a:custGeom>
            <a:avLst/>
            <a:gdLst/>
            <a:ahLst/>
            <a:cxnLst/>
            <a:rect r="r" b="b" t="t" l="l"/>
            <a:pathLst>
              <a:path h="1410931" w="2697765">
                <a:moveTo>
                  <a:pt x="0" y="0"/>
                </a:moveTo>
                <a:lnTo>
                  <a:pt x="2697764" y="0"/>
                </a:lnTo>
                <a:lnTo>
                  <a:pt x="2697764" y="1410931"/>
                </a:lnTo>
                <a:lnTo>
                  <a:pt x="0" y="1410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767558" y="7817808"/>
            <a:ext cx="2489242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LACK OF TRANSPARENCY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48620" y="3075332"/>
            <a:ext cx="9709984" cy="7104552"/>
          </a:xfrm>
          <a:custGeom>
            <a:avLst/>
            <a:gdLst/>
            <a:ahLst/>
            <a:cxnLst/>
            <a:rect r="r" b="b" t="t" l="l"/>
            <a:pathLst>
              <a:path h="7104552" w="9709984">
                <a:moveTo>
                  <a:pt x="0" y="0"/>
                </a:moveTo>
                <a:lnTo>
                  <a:pt x="9709984" y="0"/>
                </a:lnTo>
                <a:lnTo>
                  <a:pt x="9709984" y="7104552"/>
                </a:lnTo>
                <a:lnTo>
                  <a:pt x="0" y="7104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23917" y="3075332"/>
            <a:ext cx="8660239" cy="6432060"/>
          </a:xfrm>
          <a:custGeom>
            <a:avLst/>
            <a:gdLst/>
            <a:ahLst/>
            <a:cxnLst/>
            <a:rect r="r" b="b" t="t" l="l"/>
            <a:pathLst>
              <a:path h="6432060" w="8660239">
                <a:moveTo>
                  <a:pt x="0" y="0"/>
                </a:moveTo>
                <a:lnTo>
                  <a:pt x="8660239" y="0"/>
                </a:lnTo>
                <a:lnTo>
                  <a:pt x="8660239" y="6432061"/>
                </a:lnTo>
                <a:lnTo>
                  <a:pt x="0" y="6432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925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94375" y="165100"/>
            <a:ext cx="692080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PROPOSED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6569" y="666703"/>
            <a:ext cx="9761041" cy="207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39"/>
              </a:lnSpc>
              <a:spcBef>
                <a:spcPct val="0"/>
              </a:spcBef>
            </a:pPr>
            <a:r>
              <a:rPr lang="en-US" sz="120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MEET </a:t>
            </a:r>
            <a:r>
              <a:rPr lang="en-US" sz="12099">
                <a:solidFill>
                  <a:srgbClr val="FF751F"/>
                </a:solidFill>
                <a:latin typeface="Anton"/>
                <a:ea typeface="Anton"/>
                <a:cs typeface="Anton"/>
                <a:sym typeface="Anton"/>
              </a:rPr>
              <a:t>SAMADHAN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0204" y="4651346"/>
            <a:ext cx="6487491" cy="575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</a:pPr>
            <a:r>
              <a:rPr lang="en-US" sz="21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</a:t>
            </a:r>
            <a:r>
              <a:rPr lang="en-US" sz="214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CITIZENS:</a:t>
            </a:r>
          </a:p>
          <a:p>
            <a:pPr algn="l" marL="362925" indent="-181462" lvl="1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RESIDENTS</a:t>
            </a:r>
          </a:p>
          <a:p>
            <a:pPr algn="l" marL="362925" indent="-181462" lvl="1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STUDENTS</a:t>
            </a:r>
          </a:p>
          <a:p>
            <a:pPr algn="l" marL="362925" indent="-181462" lvl="1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COMMUTERS</a:t>
            </a:r>
          </a:p>
          <a:p>
            <a:pPr algn="l" marL="362925" indent="-181462" lvl="1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SHOPKEEPERS/BUSINESS OWNERS</a:t>
            </a:r>
          </a:p>
          <a:p>
            <a:pPr algn="l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DEPARTMENTS </a:t>
            </a:r>
          </a:p>
          <a:p>
            <a:pPr algn="l" marL="383034" indent="-191517" lvl="1">
              <a:lnSpc>
                <a:spcPts val="2483"/>
              </a:lnSpc>
              <a:buFont typeface="Arial"/>
              <a:buChar char="•"/>
            </a:pPr>
            <a:r>
              <a:rPr lang="en-US" sz="177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PUBLIC WORKS / ROADS DEPARTMENT → POTHOLES, DAMAGED ROADS, FOOTPATHS</a:t>
            </a:r>
          </a:p>
          <a:p>
            <a:pPr algn="l" marL="383034" indent="-191517" lvl="1">
              <a:lnSpc>
                <a:spcPts val="2483"/>
              </a:lnSpc>
              <a:buFont typeface="Arial"/>
              <a:buChar char="•"/>
            </a:pPr>
            <a:r>
              <a:rPr lang="en-US" sz="177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WATER SUPPLY DEPARTMENT → WATER LEAKS, BROKEN PIPELINES</a:t>
            </a:r>
          </a:p>
          <a:p>
            <a:pPr algn="l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   ADMINISTRATORS</a:t>
            </a:r>
          </a:p>
          <a:p>
            <a:pPr algn="l" marL="362925" indent="-181462" lvl="1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ADDITIONAL/DEPUTY MUNICIPAL COMMISSIONER</a:t>
            </a:r>
          </a:p>
          <a:p>
            <a:pPr algn="l" marL="362925" indent="-181462" lvl="1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DEPARTMENT HEADS</a:t>
            </a:r>
          </a:p>
          <a:p>
            <a:pPr algn="l" marL="362925" indent="-181462" lvl="1">
              <a:lnSpc>
                <a:spcPts val="2353"/>
              </a:lnSpc>
              <a:buFont typeface="Arial"/>
              <a:buChar char="•"/>
            </a:pPr>
            <a:r>
              <a:rPr lang="en-US" sz="168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MUNICIPAL/CORPORATION SUPERVISORS</a:t>
            </a:r>
          </a:p>
          <a:p>
            <a:pPr algn="l">
              <a:lnSpc>
                <a:spcPts val="2744"/>
              </a:lnSpc>
            </a:pPr>
          </a:p>
          <a:p>
            <a:pPr algn="l">
              <a:lnSpc>
                <a:spcPts val="2744"/>
              </a:lnSpc>
            </a:pPr>
          </a:p>
          <a:p>
            <a:pPr algn="l">
              <a:lnSpc>
                <a:spcPts val="2744"/>
              </a:lnSpc>
            </a:pPr>
            <a:r>
              <a:rPr lang="en-US" sz="196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algn="ctr">
              <a:lnSpc>
                <a:spcPts val="274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03916" y="3277849"/>
            <a:ext cx="4790459" cy="114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8"/>
              </a:lnSpc>
              <a:spcBef>
                <a:spcPct val="0"/>
              </a:spcBef>
            </a:pPr>
            <a:r>
              <a:rPr lang="en-US" b="true" sz="2048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SAMADHAN IS A FULL-STACK CIVIC ISSUE RESOLUTION PLATFORM THAT CONNECTS: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2744" y="-114637"/>
            <a:ext cx="15418328" cy="10278885"/>
          </a:xfrm>
          <a:custGeom>
            <a:avLst/>
            <a:gdLst/>
            <a:ahLst/>
            <a:cxnLst/>
            <a:rect r="r" b="b" t="t" l="l"/>
            <a:pathLst>
              <a:path h="10278885" w="15418328">
                <a:moveTo>
                  <a:pt x="0" y="0"/>
                </a:moveTo>
                <a:lnTo>
                  <a:pt x="15418328" y="0"/>
                </a:lnTo>
                <a:lnTo>
                  <a:pt x="15418328" y="10278886"/>
                </a:lnTo>
                <a:lnTo>
                  <a:pt x="0" y="10278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8195" y="0"/>
            <a:ext cx="14031444" cy="10287000"/>
          </a:xfrm>
          <a:custGeom>
            <a:avLst/>
            <a:gdLst/>
            <a:ahLst/>
            <a:cxnLst/>
            <a:rect r="r" b="b" t="t" l="l"/>
            <a:pathLst>
              <a:path h="10287000" w="14031444">
                <a:moveTo>
                  <a:pt x="0" y="0"/>
                </a:moveTo>
                <a:lnTo>
                  <a:pt x="14031444" y="0"/>
                </a:lnTo>
                <a:lnTo>
                  <a:pt x="140314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12" t="-3890" r="0" b="-795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7854" y="1228292"/>
            <a:ext cx="17152292" cy="8697784"/>
          </a:xfrm>
          <a:custGeom>
            <a:avLst/>
            <a:gdLst/>
            <a:ahLst/>
            <a:cxnLst/>
            <a:rect r="r" b="b" t="t" l="l"/>
            <a:pathLst>
              <a:path h="8697784" w="17152292">
                <a:moveTo>
                  <a:pt x="0" y="0"/>
                </a:moveTo>
                <a:lnTo>
                  <a:pt x="17152292" y="0"/>
                </a:lnTo>
                <a:lnTo>
                  <a:pt x="17152292" y="8697783"/>
                </a:lnTo>
                <a:lnTo>
                  <a:pt x="0" y="869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222" r="0" b="-65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08875" y="140967"/>
            <a:ext cx="4840724" cy="108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3"/>
              </a:lnSpc>
              <a:spcBef>
                <a:spcPct val="0"/>
              </a:spcBef>
            </a:pPr>
            <a:r>
              <a:rPr lang="en-US" sz="6316">
                <a:solidFill>
                  <a:srgbClr val="000000"/>
                </a:solidFill>
                <a:latin typeface="Graduate"/>
                <a:ea typeface="Graduate"/>
                <a:cs typeface="Graduate"/>
                <a:sym typeface="Graduate"/>
              </a:rPr>
              <a:t>TECH STACK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07177"/>
            <a:ext cx="13887950" cy="301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9"/>
              </a:lnSpc>
            </a:pPr>
            <a:r>
              <a:rPr lang="en-US" sz="24263">
                <a:solidFill>
                  <a:srgbClr val="FAFAFA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624022" y="3877781"/>
            <a:ext cx="11449150" cy="6558271"/>
          </a:xfrm>
          <a:custGeom>
            <a:avLst/>
            <a:gdLst/>
            <a:ahLst/>
            <a:cxnLst/>
            <a:rect r="r" b="b" t="t" l="l"/>
            <a:pathLst>
              <a:path h="6558271" w="11449150">
                <a:moveTo>
                  <a:pt x="0" y="0"/>
                </a:moveTo>
                <a:lnTo>
                  <a:pt x="11449149" y="0"/>
                </a:lnTo>
                <a:lnTo>
                  <a:pt x="11449149" y="6558271"/>
                </a:lnTo>
                <a:lnTo>
                  <a:pt x="0" y="6558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DAHSQSyleJQ</dc:identifier>
  <dcterms:modified xsi:type="dcterms:W3CDTF">2011-08-01T06:04:30Z</dcterms:modified>
  <cp:revision>1</cp:revision>
  <dc:title>samadhan</dc:title>
</cp:coreProperties>
</file>